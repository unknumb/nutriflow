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Helvetica World" charset="1" panose="020B0500040000020004"/>
      <p:regular r:id="rId36"/>
    </p:embeddedFont>
    <p:embeddedFont>
      <p:font typeface="Georgia Pro Condensed" charset="1" panose="02040506050405020303"/>
      <p:regular r:id="rId37"/>
    </p:embeddedFont>
    <p:embeddedFont>
      <p:font typeface="Open Sans" charset="1" panose="00000000000000000000"/>
      <p:regular r:id="rId38"/>
    </p:embeddedFont>
    <p:embeddedFont>
      <p:font typeface="Helvetica World Bold" charset="1" panose="020B0800040000020004"/>
      <p:regular r:id="rId39"/>
    </p:embeddedFont>
    <p:embeddedFont>
      <p:font typeface="Helvetica Bold" charset="1" panose="020B0704020202030204"/>
      <p:regular r:id="rId40"/>
    </p:embeddedFont>
    <p:embeddedFont>
      <p:font typeface="Arimo Bold" charset="1" panose="020B0704020202020204"/>
      <p:regular r:id="rId41"/>
    </p:embeddedFont>
    <p:embeddedFont>
      <p:font typeface="Arimo" charset="1" panose="020B0604020202020204"/>
      <p:regular r:id="rId42"/>
    </p:embeddedFont>
    <p:embeddedFont>
      <p:font typeface="Helvetica World Italics" charset="1" panose="020B05000400000900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97"/>
            <a:ext cx="11201400" cy="10299697"/>
            <a:chOff x="0" y="0"/>
            <a:chExt cx="14935200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520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4935200">
                  <a:moveTo>
                    <a:pt x="0" y="0"/>
                  </a:moveTo>
                  <a:lnTo>
                    <a:pt x="14935200" y="0"/>
                  </a:lnTo>
                  <a:lnTo>
                    <a:pt x="14935200" y="13732890"/>
                  </a:lnTo>
                  <a:lnTo>
                    <a:pt x="0" y="13732890"/>
                  </a:lnTo>
                  <a:close/>
                </a:path>
              </a:pathLst>
            </a:custGeom>
            <a:solidFill>
              <a:srgbClr val="4A90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7670800" cy="1193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70800" cy="11938000"/>
            </a:xfrm>
            <a:custGeom>
              <a:avLst/>
              <a:gdLst/>
              <a:ahLst/>
              <a:cxnLst/>
              <a:rect r="r" b="b" t="t" l="l"/>
              <a:pathLst>
                <a:path h="11938000" w="7670800">
                  <a:moveTo>
                    <a:pt x="253365" y="0"/>
                  </a:moveTo>
                  <a:lnTo>
                    <a:pt x="7417435" y="0"/>
                  </a:lnTo>
                  <a:cubicBezTo>
                    <a:pt x="7557389" y="0"/>
                    <a:pt x="7670800" y="113411"/>
                    <a:pt x="7670800" y="253365"/>
                  </a:cubicBezTo>
                  <a:lnTo>
                    <a:pt x="7670800" y="11684635"/>
                  </a:lnTo>
                  <a:cubicBezTo>
                    <a:pt x="7670800" y="11824589"/>
                    <a:pt x="7557389" y="11938000"/>
                    <a:pt x="7417435" y="11938000"/>
                  </a:cubicBezTo>
                  <a:lnTo>
                    <a:pt x="253365" y="11938000"/>
                  </a:lnTo>
                  <a:cubicBezTo>
                    <a:pt x="113411" y="11938000"/>
                    <a:pt x="0" y="11824589"/>
                    <a:pt x="0" y="11684635"/>
                  </a:cubicBezTo>
                  <a:lnTo>
                    <a:pt x="0" y="253365"/>
                  </a:lnTo>
                  <a:cubicBezTo>
                    <a:pt x="0" y="113411"/>
                    <a:pt x="113411" y="0"/>
                    <a:pt x="25336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8354063"/>
            <a:ext cx="6886575" cy="126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800" spc="-56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Benjamín González y Álvaro Uribe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1251290"/>
            <a:ext cx="9754495" cy="551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55"/>
              </a:lnSpc>
            </a:pPr>
            <a:r>
              <a:rPr lang="en-US" sz="14956" spc="-523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NutriFlow: Plataforma SaaS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60">
            <a:off x="8947737" y="7656090"/>
            <a:ext cx="2112607" cy="1859090"/>
          </a:xfrm>
          <a:custGeom>
            <a:avLst/>
            <a:gdLst/>
            <a:ahLst/>
            <a:cxnLst/>
            <a:rect r="r" b="b" t="t" l="l"/>
            <a:pathLst>
              <a:path h="1859090" w="2112607">
                <a:moveTo>
                  <a:pt x="0" y="0"/>
                </a:moveTo>
                <a:lnTo>
                  <a:pt x="2112607" y="0"/>
                </a:lnTo>
                <a:lnTo>
                  <a:pt x="2112607" y="1859090"/>
                </a:lnTo>
                <a:lnTo>
                  <a:pt x="0" y="1859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3435"/>
            <a:ext cx="1078992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82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720" y="2697480"/>
            <a:ext cx="15910560" cy="68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 </a:t>
            </a:r>
            <a:r>
              <a:rPr lang="en-US" sz="3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Contexto y problema del proyecto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 </a:t>
            </a:r>
            <a:r>
              <a:rPr lang="en-US" sz="3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Objetivos y solución propuesta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 </a:t>
            </a:r>
            <a:r>
              <a:rPr lang="en-US" sz="3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Tecnologías y arquitectura (diagramas 4+1)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 </a:t>
            </a:r>
            <a:r>
              <a:rPr lang="en-US" sz="3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Descripción del plan de pruebas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5.  </a:t>
            </a:r>
            <a:r>
              <a:rPr lang="en-US" sz="3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Aplicación del plan de pruebas y resultados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6.  </a:t>
            </a:r>
            <a:r>
              <a:rPr lang="en-US" sz="3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Mejoras realizadas tras la validación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7.  </a:t>
            </a:r>
            <a:r>
              <a:rPr lang="en-US" sz="3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Conclusiones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73600" y="9271635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6750" y="522084"/>
            <a:ext cx="16954500" cy="9098166"/>
          </a:xfrm>
          <a:custGeom>
            <a:avLst/>
            <a:gdLst/>
            <a:ahLst/>
            <a:cxnLst/>
            <a:rect r="r" b="b" t="t" l="l"/>
            <a:pathLst>
              <a:path h="9098166" w="16954500">
                <a:moveTo>
                  <a:pt x="0" y="0"/>
                </a:moveTo>
                <a:lnTo>
                  <a:pt x="16954500" y="0"/>
                </a:lnTo>
                <a:lnTo>
                  <a:pt x="16954500" y="9098166"/>
                </a:lnTo>
                <a:lnTo>
                  <a:pt x="0" y="909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0225" y="1412081"/>
            <a:ext cx="12944475" cy="136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spc="-24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Contexto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0225" y="3181436"/>
            <a:ext cx="129444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99" spc="-37">
                <a:solidFill>
                  <a:srgbClr val="C1D4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Digitalización del flujo de trabajo clínico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0225" y="3825878"/>
            <a:ext cx="10134105" cy="482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Nuestro Cliente: Una profesional de la nutrición dedicada a la atención de pacientes, que busca modernizar y optimizar la entrega de sus servicios.</a:t>
            </a:r>
          </a:p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La Situación Actual: Todo el flujo de trabajo, desde los cálculos metabólicos hasta la estructuración de las dietas, se gestiona de forma manual a través de diversas planillas de Excel.</a:t>
            </a:r>
          </a:p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El Punto de Dolor (El Problema): El uso de Excel consume un tiempo valioso en tareas repetitivas (cálculo de fórmulas, ajuste de macronutrientes, cuadrar porciones). Esto genera un cuello de botella administrativo que resta tiempo a la atención directa del paciente y dificulta la escalabilidad de la consulta.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3117060">
            <a:off x="16099469" y="7952718"/>
            <a:ext cx="2112607" cy="1859090"/>
          </a:xfrm>
          <a:custGeom>
            <a:avLst/>
            <a:gdLst/>
            <a:ahLst/>
            <a:cxnLst/>
            <a:rect r="r" b="b" t="t" l="l"/>
            <a:pathLst>
              <a:path h="1859090" w="2112607">
                <a:moveTo>
                  <a:pt x="0" y="0"/>
                </a:moveTo>
                <a:lnTo>
                  <a:pt x="2112607" y="0"/>
                </a:lnTo>
                <a:lnTo>
                  <a:pt x="2112607" y="1859089"/>
                </a:lnTo>
                <a:lnTo>
                  <a:pt x="0" y="1859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3" r="0" b="-16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96400" y="-144656"/>
            <a:ext cx="8991600" cy="3497456"/>
          </a:xfrm>
          <a:custGeom>
            <a:avLst/>
            <a:gdLst/>
            <a:ahLst/>
            <a:cxnLst/>
            <a:rect r="r" b="b" t="t" l="l"/>
            <a:pathLst>
              <a:path h="3497456" w="8991600">
                <a:moveTo>
                  <a:pt x="0" y="0"/>
                </a:moveTo>
                <a:lnTo>
                  <a:pt x="8991600" y="0"/>
                </a:lnTo>
                <a:lnTo>
                  <a:pt x="8991600" y="3497456"/>
                </a:lnTo>
                <a:lnTo>
                  <a:pt x="0" y="3497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91600" y="0"/>
            <a:ext cx="9296400" cy="10287000"/>
            <a:chOff x="0" y="0"/>
            <a:chExt cx="123952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95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/>
              <a:stretch>
                <a:fillRect l="-425" t="0" r="-42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952500"/>
            <a:ext cx="6886575" cy="9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Problema actual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7854953"/>
            <a:ext cx="6886575" cy="176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37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La Necesidad: Un sistema centralizado y automatizado que agilice la planificación nutricional sin perder el enfoque personalizado para cada paciente.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3370" y="2063906"/>
            <a:ext cx="11301260" cy="6159189"/>
            <a:chOff x="0" y="0"/>
            <a:chExt cx="15068347" cy="82122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68296" cy="8212201"/>
            </a:xfrm>
            <a:custGeom>
              <a:avLst/>
              <a:gdLst/>
              <a:ahLst/>
              <a:cxnLst/>
              <a:rect r="r" b="b" t="t" l="l"/>
              <a:pathLst>
                <a:path h="8212201" w="15068296">
                  <a:moveTo>
                    <a:pt x="0" y="0"/>
                  </a:moveTo>
                  <a:lnTo>
                    <a:pt x="15068296" y="0"/>
                  </a:lnTo>
                  <a:lnTo>
                    <a:pt x="15068296" y="8212201"/>
                  </a:lnTo>
                  <a:lnTo>
                    <a:pt x="0" y="821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1" r="0" b="-4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92750" y="509216"/>
            <a:ext cx="10102491" cy="121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8"/>
              </a:lnSpc>
            </a:pPr>
            <a:r>
              <a:rPr lang="en-US" sz="6398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Ishikawa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3090" y="2028530"/>
            <a:ext cx="6931466" cy="4668745"/>
            <a:chOff x="0" y="0"/>
            <a:chExt cx="9241955" cy="6224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41917" cy="6225032"/>
            </a:xfrm>
            <a:custGeom>
              <a:avLst/>
              <a:gdLst/>
              <a:ahLst/>
              <a:cxnLst/>
              <a:rect r="r" b="b" t="t" l="l"/>
              <a:pathLst>
                <a:path h="6225032" w="9241917">
                  <a:moveTo>
                    <a:pt x="0" y="0"/>
                  </a:moveTo>
                  <a:lnTo>
                    <a:pt x="9241917" y="0"/>
                  </a:lnTo>
                  <a:lnTo>
                    <a:pt x="9241917" y="6225032"/>
                  </a:lnTo>
                  <a:lnTo>
                    <a:pt x="0" y="622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75" r="0" b="-557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45288" y="774506"/>
            <a:ext cx="7473467" cy="744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9"/>
              </a:lnSpc>
            </a:pPr>
            <a:r>
              <a:rPr lang="en-US" sz="6419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Tecnologías utilizadas: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2358390"/>
            <a:ext cx="38404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8FC8F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40080" y="2990088"/>
            <a:ext cx="1975104" cy="41148"/>
            <a:chOff x="0" y="0"/>
            <a:chExt cx="2633472" cy="548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33472" cy="54864"/>
            </a:xfrm>
            <a:custGeom>
              <a:avLst/>
              <a:gdLst/>
              <a:ahLst/>
              <a:cxnLst/>
              <a:rect r="r" b="b" t="t" l="l"/>
              <a:pathLst>
                <a:path h="54864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6FB1E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1520" y="3236595"/>
            <a:ext cx="3840480" cy="65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React 19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TypeScript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Vite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TailwindCSS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TanStack Query + Router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Zustand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dnd-kit (drag &amp; drop)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Recharts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React-PDF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29200" y="2358390"/>
            <a:ext cx="38404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8FC8F0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937760" y="2990088"/>
            <a:ext cx="1911096" cy="41148"/>
            <a:chOff x="0" y="0"/>
            <a:chExt cx="2548128" cy="54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8128" cy="54864"/>
            </a:xfrm>
            <a:custGeom>
              <a:avLst/>
              <a:gdLst/>
              <a:ahLst/>
              <a:cxnLst/>
              <a:rect r="r" b="b" t="t" l="l"/>
              <a:pathLst>
                <a:path h="54864" w="2548128">
                  <a:moveTo>
                    <a:pt x="0" y="0"/>
                  </a:moveTo>
                  <a:lnTo>
                    <a:pt x="2548128" y="0"/>
                  </a:lnTo>
                  <a:lnTo>
                    <a:pt x="2548128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6FB1E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29200" y="3236595"/>
            <a:ext cx="3840480" cy="65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NestJS 11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Prisma ORM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Passport · JWT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Python + FastAPI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SQLAlchemy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Pydantic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6880" y="2358390"/>
            <a:ext cx="38404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8FC8F0"/>
                </a:solidFill>
                <a:latin typeface="Arimo Bold"/>
                <a:ea typeface="Arimo Bold"/>
                <a:cs typeface="Arimo Bold"/>
                <a:sym typeface="Arimo Bold"/>
              </a:rPr>
              <a:t>Datos e Infraestructura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35440" y="2990088"/>
            <a:ext cx="2935224" cy="41148"/>
            <a:chOff x="0" y="0"/>
            <a:chExt cx="3913632" cy="548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3632" cy="54864"/>
            </a:xfrm>
            <a:custGeom>
              <a:avLst/>
              <a:gdLst/>
              <a:ahLst/>
              <a:cxnLst/>
              <a:rect r="r" b="b" t="t" l="l"/>
              <a:pathLst>
                <a:path h="54864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6FB1E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26880" y="3236595"/>
            <a:ext cx="3840480" cy="65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PostgreSQL (Supabase)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Supabase Auth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Redis (Upstash)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Docker + Compose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24560" y="2358390"/>
            <a:ext cx="38404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8FC8F0"/>
                </a:solidFill>
                <a:latin typeface="Arimo Bold"/>
                <a:ea typeface="Arimo Bold"/>
                <a:cs typeface="Arimo Bold"/>
                <a:sym typeface="Arimo Bold"/>
              </a:rPr>
              <a:t>DevOps y Testing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33120" y="2990088"/>
            <a:ext cx="2487168" cy="41148"/>
            <a:chOff x="0" y="0"/>
            <a:chExt cx="3316224" cy="548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16224" cy="54864"/>
            </a:xfrm>
            <a:custGeom>
              <a:avLst/>
              <a:gdLst/>
              <a:ahLst/>
              <a:cxnLst/>
              <a:rect r="r" b="b" t="t" l="l"/>
              <a:pathLst>
                <a:path h="54864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6FB1E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624560" y="3236595"/>
            <a:ext cx="3840480" cy="65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Git + GitHub Actions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Jest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Pytest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ClickUp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9606" y="3612356"/>
            <a:ext cx="3633788" cy="3424066"/>
          </a:xfrm>
          <a:custGeom>
            <a:avLst/>
            <a:gdLst/>
            <a:ahLst/>
            <a:cxnLst/>
            <a:rect r="r" b="b" t="t" l="l"/>
            <a:pathLst>
              <a:path h="3424066" w="3633788">
                <a:moveTo>
                  <a:pt x="0" y="0"/>
                </a:moveTo>
                <a:lnTo>
                  <a:pt x="3633788" y="0"/>
                </a:lnTo>
                <a:lnTo>
                  <a:pt x="3633788" y="3424066"/>
                </a:lnTo>
                <a:lnTo>
                  <a:pt x="0" y="342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14875" y="4419600"/>
            <a:ext cx="3143250" cy="250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sz="1599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Interfaz Drag &amp; Drop para distribuir porciones en menos de 5 minutos.</a:t>
            </a:r>
          </a:p>
          <a:p>
            <a:pPr algn="l">
              <a:lnSpc>
                <a:spcPts val="2238"/>
              </a:lnSpc>
            </a:pPr>
            <a:r>
              <a:rPr lang="en-US" sz="1599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Backend híbrido (NestJS + FastAPI) que reduzca el cálculo manual en un 95%.</a:t>
            </a:r>
          </a:p>
          <a:p>
            <a:pPr algn="l">
              <a:lnSpc>
                <a:spcPts val="2238"/>
              </a:lnSpc>
            </a:pPr>
            <a:r>
              <a:rPr lang="en-US" sz="1599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Base de datos en 3FN con encriptación total y consultas menores a 100ms.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67250" y="4076700"/>
            <a:ext cx="3238500" cy="25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>
                <a:solidFill>
                  <a:srgbClr val="4FC3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Objetivos Específicos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59606" y="3612356"/>
            <a:ext cx="3633788" cy="3424066"/>
          </a:xfrm>
          <a:custGeom>
            <a:avLst/>
            <a:gdLst/>
            <a:ahLst/>
            <a:cxnLst/>
            <a:rect r="r" b="b" t="t" l="l"/>
            <a:pathLst>
              <a:path h="3424066" w="3633788">
                <a:moveTo>
                  <a:pt x="0" y="0"/>
                </a:moveTo>
                <a:lnTo>
                  <a:pt x="3633788" y="0"/>
                </a:lnTo>
                <a:lnTo>
                  <a:pt x="3633788" y="3424066"/>
                </a:lnTo>
                <a:lnTo>
                  <a:pt x="0" y="342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7250" y="4552950"/>
            <a:ext cx="3143250" cy="167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sz="1599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Desarrollar e implementar NutriFlow, una plataforma SaaS en la nube que centralice cálculos metabólicos y automatice la planificación visual de pautas alimentarias.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4076700"/>
            <a:ext cx="3238500" cy="25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>
                <a:solidFill>
                  <a:srgbClr val="4FC3F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Objetivos Generales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296400" y="-144656"/>
            <a:ext cx="8991600" cy="3497456"/>
          </a:xfrm>
          <a:custGeom>
            <a:avLst/>
            <a:gdLst/>
            <a:ahLst/>
            <a:cxnLst/>
            <a:rect r="r" b="b" t="t" l="l"/>
            <a:pathLst>
              <a:path h="3497456" w="8991600">
                <a:moveTo>
                  <a:pt x="0" y="0"/>
                </a:moveTo>
                <a:lnTo>
                  <a:pt x="8991600" y="0"/>
                </a:lnTo>
                <a:lnTo>
                  <a:pt x="8991600" y="3497456"/>
                </a:lnTo>
                <a:lnTo>
                  <a:pt x="0" y="3497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991600" y="0"/>
            <a:ext cx="9296400" cy="10287000"/>
            <a:chOff x="0" y="0"/>
            <a:chExt cx="123952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95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395200">
                  <a:moveTo>
                    <a:pt x="0" y="0"/>
                  </a:moveTo>
                  <a:lnTo>
                    <a:pt x="12395200" y="0"/>
                  </a:lnTo>
                  <a:lnTo>
                    <a:pt x="123952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6"/>
              <a:stretch>
                <a:fillRect l="-425" t="0" r="-425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952500"/>
            <a:ext cx="6886575" cy="193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Objetivos del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96400" y="-144656"/>
            <a:ext cx="8991600" cy="3497456"/>
          </a:xfrm>
          <a:custGeom>
            <a:avLst/>
            <a:gdLst/>
            <a:ahLst/>
            <a:cxnLst/>
            <a:rect r="r" b="b" t="t" l="l"/>
            <a:pathLst>
              <a:path h="3497456" w="8991600">
                <a:moveTo>
                  <a:pt x="0" y="0"/>
                </a:moveTo>
                <a:lnTo>
                  <a:pt x="8991600" y="0"/>
                </a:lnTo>
                <a:lnTo>
                  <a:pt x="8991600" y="3497456"/>
                </a:lnTo>
                <a:lnTo>
                  <a:pt x="0" y="3497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95597" y="666750"/>
            <a:ext cx="11746154" cy="8809615"/>
            <a:chOff x="0" y="0"/>
            <a:chExt cx="15661538" cy="11746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61512" cy="11746103"/>
            </a:xfrm>
            <a:custGeom>
              <a:avLst/>
              <a:gdLst/>
              <a:ahLst/>
              <a:cxnLst/>
              <a:rect r="r" b="b" t="t" l="l"/>
              <a:pathLst>
                <a:path h="11746103" w="15661512">
                  <a:moveTo>
                    <a:pt x="0" y="0"/>
                  </a:moveTo>
                  <a:lnTo>
                    <a:pt x="15661512" y="0"/>
                  </a:lnTo>
                  <a:lnTo>
                    <a:pt x="15661512" y="11746103"/>
                  </a:lnTo>
                  <a:lnTo>
                    <a:pt x="0" y="11746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952500"/>
            <a:ext cx="6886575" cy="294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Modelo de negocio (Canvas)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92440" y="3212154"/>
            <a:ext cx="8766867" cy="5242589"/>
            <a:chOff x="0" y="0"/>
            <a:chExt cx="11689156" cy="69901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9207" cy="6990080"/>
            </a:xfrm>
            <a:custGeom>
              <a:avLst/>
              <a:gdLst/>
              <a:ahLst/>
              <a:cxnLst/>
              <a:rect r="r" b="b" t="t" l="l"/>
              <a:pathLst>
                <a:path h="6990080" w="11689207">
                  <a:moveTo>
                    <a:pt x="0" y="0"/>
                  </a:moveTo>
                  <a:lnTo>
                    <a:pt x="11689207" y="0"/>
                  </a:lnTo>
                  <a:lnTo>
                    <a:pt x="11689207" y="6990080"/>
                  </a:lnTo>
                  <a:lnTo>
                    <a:pt x="0" y="699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698884" y="997125"/>
            <a:ext cx="6569716" cy="193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Diagramas 4+1</a:t>
            </a:r>
          </a:p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kruchten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952500"/>
            <a:ext cx="6886575" cy="193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9"/>
              </a:lnSpc>
            </a:pPr>
            <a:r>
              <a:rPr lang="en-US" sz="8019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Clases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67673" y="2468880"/>
            <a:ext cx="12552655" cy="7543800"/>
            <a:chOff x="0" y="0"/>
            <a:chExt cx="16736873" cy="10058400"/>
          </a:xfrm>
        </p:grpSpPr>
        <p:sp>
          <p:nvSpPr>
            <p:cNvPr name="Freeform 5" id="5" descr="clases_v2.png"/>
            <p:cNvSpPr/>
            <p:nvPr/>
          </p:nvSpPr>
          <p:spPr>
            <a:xfrm flipH="false" flipV="false" rot="0">
              <a:off x="0" y="0"/>
              <a:ext cx="16736822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6736822">
                  <a:moveTo>
                    <a:pt x="0" y="0"/>
                  </a:moveTo>
                  <a:lnTo>
                    <a:pt x="16736822" y="0"/>
                  </a:lnTo>
                  <a:lnTo>
                    <a:pt x="16736822" y="10058400"/>
                  </a:lnTo>
                  <a:lnTo>
                    <a:pt x="0" y="1005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4817" y="1028700"/>
            <a:ext cx="6740681" cy="8299637"/>
            <a:chOff x="0" y="0"/>
            <a:chExt cx="8987574" cy="11066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87536" cy="11066145"/>
            </a:xfrm>
            <a:custGeom>
              <a:avLst/>
              <a:gdLst/>
              <a:ahLst/>
              <a:cxnLst/>
              <a:rect r="r" b="b" t="t" l="l"/>
              <a:pathLst>
                <a:path h="11066145" w="8987536">
                  <a:moveTo>
                    <a:pt x="0" y="0"/>
                  </a:moveTo>
                  <a:lnTo>
                    <a:pt x="8987536" y="0"/>
                  </a:lnTo>
                  <a:lnTo>
                    <a:pt x="8987536" y="11066145"/>
                  </a:lnTo>
                  <a:lnTo>
                    <a:pt x="0" y="11066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4" t="0" r="-99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085850"/>
            <a:ext cx="6886575" cy="163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sz="678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Secuencia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88592" y="2970266"/>
            <a:ext cx="9506979" cy="5704189"/>
            <a:chOff x="0" y="0"/>
            <a:chExt cx="12675972" cy="76055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75997" cy="7605522"/>
            </a:xfrm>
            <a:custGeom>
              <a:avLst/>
              <a:gdLst/>
              <a:ahLst/>
              <a:cxnLst/>
              <a:rect r="r" b="b" t="t" l="l"/>
              <a:pathLst>
                <a:path h="7605522" w="12675997">
                  <a:moveTo>
                    <a:pt x="0" y="0"/>
                  </a:moveTo>
                  <a:lnTo>
                    <a:pt x="12675997" y="0"/>
                  </a:lnTo>
                  <a:lnTo>
                    <a:pt x="12675997" y="7605522"/>
                  </a:lnTo>
                  <a:lnTo>
                    <a:pt x="0" y="7605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" r="0" b="-2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52500"/>
            <a:ext cx="6886575" cy="193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9"/>
              </a:lnSpc>
            </a:pPr>
            <a:r>
              <a:rPr lang="en-US" sz="8019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Comunicación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47675"/>
            <a:ext cx="6886575" cy="294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9"/>
              </a:lnSpc>
            </a:pPr>
            <a:r>
              <a:rPr lang="en-US" sz="8019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Flujo (vista procesos)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32099" y="2651760"/>
            <a:ext cx="15023802" cy="7315200"/>
            <a:chOff x="0" y="0"/>
            <a:chExt cx="20031735" cy="9753600"/>
          </a:xfrm>
        </p:grpSpPr>
        <p:sp>
          <p:nvSpPr>
            <p:cNvPr name="Freeform 5" id="5" descr="flujo_pro.png"/>
            <p:cNvSpPr/>
            <p:nvPr/>
          </p:nvSpPr>
          <p:spPr>
            <a:xfrm flipH="false" flipV="false" rot="0">
              <a:off x="0" y="0"/>
              <a:ext cx="20031711" cy="9753600"/>
            </a:xfrm>
            <a:custGeom>
              <a:avLst/>
              <a:gdLst/>
              <a:ahLst/>
              <a:cxnLst/>
              <a:rect r="r" b="b" t="t" l="l"/>
              <a:pathLst>
                <a:path h="9753600" w="20031711">
                  <a:moveTo>
                    <a:pt x="0" y="0"/>
                  </a:moveTo>
                  <a:lnTo>
                    <a:pt x="20031711" y="0"/>
                  </a:lnTo>
                  <a:lnTo>
                    <a:pt x="20031711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16878" y="3370707"/>
            <a:ext cx="14454245" cy="5745566"/>
            <a:chOff x="0" y="0"/>
            <a:chExt cx="19272326" cy="76607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72377" cy="7660767"/>
            </a:xfrm>
            <a:custGeom>
              <a:avLst/>
              <a:gdLst/>
              <a:ahLst/>
              <a:cxnLst/>
              <a:rect r="r" b="b" t="t" l="l"/>
              <a:pathLst>
                <a:path h="7660767" w="19272377">
                  <a:moveTo>
                    <a:pt x="0" y="0"/>
                  </a:moveTo>
                  <a:lnTo>
                    <a:pt x="19272377" y="0"/>
                  </a:lnTo>
                  <a:lnTo>
                    <a:pt x="19272377" y="7660767"/>
                  </a:lnTo>
                  <a:lnTo>
                    <a:pt x="0" y="7660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" t="0" r="-2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52500"/>
            <a:ext cx="6886575" cy="193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9"/>
              </a:lnSpc>
            </a:pPr>
            <a:r>
              <a:rPr lang="en-US" sz="8019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Componentes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952500"/>
            <a:ext cx="6886575" cy="193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9"/>
              </a:lnSpc>
            </a:pPr>
            <a:r>
              <a:rPr lang="en-US" sz="8019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Paquetes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651760"/>
            <a:ext cx="16459200" cy="7069636"/>
            <a:chOff x="0" y="0"/>
            <a:chExt cx="21945600" cy="9426181"/>
          </a:xfrm>
        </p:grpSpPr>
        <p:sp>
          <p:nvSpPr>
            <p:cNvPr name="Freeform 5" id="5" descr="paquetes_new.png"/>
            <p:cNvSpPr/>
            <p:nvPr/>
          </p:nvSpPr>
          <p:spPr>
            <a:xfrm flipH="false" flipV="false" rot="0">
              <a:off x="0" y="0"/>
              <a:ext cx="21945600" cy="9426194"/>
            </a:xfrm>
            <a:custGeom>
              <a:avLst/>
              <a:gdLst/>
              <a:ahLst/>
              <a:cxnLst/>
              <a:rect r="r" b="b" t="t" l="l"/>
              <a:pathLst>
                <a:path h="942619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426194"/>
                  </a:lnTo>
                  <a:lnTo>
                    <a:pt x="0" y="942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52036" y="666750"/>
            <a:ext cx="7578814" cy="9620250"/>
            <a:chOff x="0" y="0"/>
            <a:chExt cx="10105085" cy="1282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05136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0105136">
                  <a:moveTo>
                    <a:pt x="0" y="0"/>
                  </a:moveTo>
                  <a:lnTo>
                    <a:pt x="10105136" y="0"/>
                  </a:lnTo>
                  <a:lnTo>
                    <a:pt x="10105136" y="12827000"/>
                  </a:lnTo>
                  <a:lnTo>
                    <a:pt x="0" y="128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52500"/>
            <a:ext cx="6886575" cy="193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9"/>
              </a:lnSpc>
            </a:pPr>
            <a:r>
              <a:rPr lang="en-US" sz="8019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Despliegue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74774" y="1028700"/>
            <a:ext cx="10655779" cy="8536562"/>
            <a:chOff x="0" y="0"/>
            <a:chExt cx="14207706" cy="11382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07744" cy="11382121"/>
            </a:xfrm>
            <a:custGeom>
              <a:avLst/>
              <a:gdLst/>
              <a:ahLst/>
              <a:cxnLst/>
              <a:rect r="r" b="b" t="t" l="l"/>
              <a:pathLst>
                <a:path h="11382121" w="14207744">
                  <a:moveTo>
                    <a:pt x="0" y="0"/>
                  </a:moveTo>
                  <a:lnTo>
                    <a:pt x="14207744" y="0"/>
                  </a:lnTo>
                  <a:lnTo>
                    <a:pt x="14207744" y="11382121"/>
                  </a:lnTo>
                  <a:lnTo>
                    <a:pt x="0" y="1138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52500"/>
            <a:ext cx="6886575" cy="193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9"/>
              </a:lnSpc>
            </a:pPr>
            <a:r>
              <a:rPr lang="en-US" sz="8019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Diagrama de Casos de Uso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163050"/>
            <a:ext cx="1524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0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4440" y="5888355"/>
            <a:ext cx="1536192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600">
                <a:solidFill>
                  <a:srgbClr val="6FB1E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Plan de Pruebas, Validación y Mejoras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76275"/>
            <a:ext cx="168249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Descripción del Plan de Pruebas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047875"/>
            <a:ext cx="16459200" cy="723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Objeto: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verificar que NutriFlow satisface los requisitos funcionales mediante casos de prueba reproducibles, documentados y aprobados por la docente guía.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Alcance: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 requisitos funcionales núcleo — autenticación, gestión de pacientes, validación de datos, cálculo metabólico, distribución de macros, armador visual de pautas y aislamiento multi-tenant.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Tipos de prueba: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Funcional, Validación (datos de entrada) y Seguridad (control de acceso).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Niveles: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unitario automatizado (Jest + pytest) y funcional / E2E sobre el build estabilizado.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Estrategia por ciclos: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Ciclo 1 — ejecución de los 9 CP sobre el primer build estable, priorizando flujos núcleo. Ciclo 2 — regresión sobre los flujos críticos (login, RUT, TMB, macros, aislamiento).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76275"/>
            <a:ext cx="168249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Requisitos y Matriz de Trazabilidad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40080" y="2011680"/>
          <a:ext cx="7759700" cy="4470400"/>
        </p:xfrm>
        <a:graphic>
          <a:graphicData uri="http://schemas.openxmlformats.org/drawingml/2006/table">
            <a:tbl>
              <a:tblPr/>
              <a:tblGrid>
                <a:gridCol w="1186778"/>
                <a:gridCol w="6572922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Cód.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Requisito Funcional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RF-001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Inicio de sesión y autenticación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RF-002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Gestión de pacientes (alta, consulta)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RF-003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Validación de datos de entrada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RF-004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Cálculo del requerimiento energético (TMB)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RF-005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Distribución de macronutrientes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RF-006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Armado visual de pautas (drag &amp; drop)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RF-007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399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Control de acceso y aislamiento de datos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778240" y="2011680"/>
          <a:ext cx="8648700" cy="5588000"/>
        </p:xfrm>
        <a:graphic>
          <a:graphicData uri="http://schemas.openxmlformats.org/drawingml/2006/table">
            <a:tbl>
              <a:tblPr/>
              <a:tblGrid>
                <a:gridCol w="1176078"/>
                <a:gridCol w="1067517"/>
                <a:gridCol w="1067517"/>
                <a:gridCol w="1067517"/>
                <a:gridCol w="1067517"/>
                <a:gridCol w="1067517"/>
                <a:gridCol w="1067517"/>
                <a:gridCol w="1067517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001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002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003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004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005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006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399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007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560"/>
                        </a:lnSpc>
                        <a:defRPr/>
                      </a:pPr>
                      <a:r>
                        <a:rPr lang="en-US" sz="13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8869680" y="8641080"/>
            <a:ext cx="80467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i="true">
                <a:solidFill>
                  <a:srgbClr val="6FB1E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Cobertura: 7/7 RF cubiertos por al menos un caso de prueba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85800"/>
            <a:ext cx="1682496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Casos de Prueba (1 / 2)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40080" y="1920240"/>
          <a:ext cx="16979900" cy="5715000"/>
        </p:xfrm>
        <a:graphic>
          <a:graphicData uri="http://schemas.openxmlformats.org/drawingml/2006/table">
            <a:tbl>
              <a:tblPr/>
              <a:tblGrid>
                <a:gridCol w="1186767"/>
                <a:gridCol w="4199330"/>
                <a:gridCol w="4838359"/>
                <a:gridCol w="6755444"/>
              </a:tblGrid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Módulo · Tipo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Qué se prueba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Resultado esperado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Autenticación · Funcional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Login con credenciales válidas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Supabase emite el JWT, se almacena y redirige al dashboard.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Autenticación · Validación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Rechazo de credenciales inválidas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 se emite token, muestra error y permanece en /login.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Pacientes · Funcional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Alta de paciente con RUT válido y evaluación inicial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Paciente creado, se invalida la caché y aparece en la lista.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Pacientes · Validación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Rechazo de RUT con dígito verificador inválido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HTTP 400: 'El RUT ingresado no es válido (dígito verificador)'.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Calculadora (backend-math) · Funcional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Cálculo correcto de TMB por Harris-Benedict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TMB = 1695,7 kcal para M, 30 años, 175 cm, 70 kg.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85800"/>
            <a:ext cx="1682496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Casos de Prueba (2 / 2)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40080" y="1920240"/>
          <a:ext cx="16979900" cy="4762500"/>
        </p:xfrm>
        <a:graphic>
          <a:graphicData uri="http://schemas.openxmlformats.org/drawingml/2006/table">
            <a:tbl>
              <a:tblPr/>
              <a:tblGrid>
                <a:gridCol w="1186767"/>
                <a:gridCol w="4199330"/>
                <a:gridCol w="4838359"/>
                <a:gridCol w="6755444"/>
              </a:tblGrid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Módulo · Tipo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Qué se prueba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Resultado esperado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Cuadrador macros · Validación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Los porcentajes deben sumar 100 %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Error: 'Los porcentajes deben sumar 100. Suma actual: 110'.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Cuadrador macros · Funcional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Aceptación dentro de la tolerancia decimal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Acepta suma en rango [99,9–100,1] y devuelve g/kcal por macro.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Armador (dnd-kit) · Funcional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Arrastrar y soltar un alimento entre tiempos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El ítem se reubica y se recalculan los aportes del tiempo.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Pacientes · Seguridad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Aislamiento de datos entre nutricionistas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HTTP 404: 'Paciente no encontrado o sin permisos de acceso'.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76275"/>
            <a:ext cx="168249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Aplicación del Plan y Resultados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14400" y="1828800"/>
          <a:ext cx="15532100" cy="6731000"/>
        </p:xfrm>
        <a:graphic>
          <a:graphicData uri="http://schemas.openxmlformats.org/drawingml/2006/table">
            <a:tbl>
              <a:tblPr/>
              <a:tblGrid>
                <a:gridCol w="1279114"/>
                <a:gridCol w="12425680"/>
                <a:gridCol w="1827306"/>
              </a:tblGrid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Resultado obtenido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Estado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7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Acceso correcto; se muestra el dashboard del nutricionista.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El sistema informa credenciales inválidas y no permite el ingreso.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Paciente creado y visible en el listado.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Bloquea el guardado y muestra el error de RUT.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El sistema devuelve 1695,7 kcal.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Rechaza y pide corregir la distribución.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Cálculo correcto sin falso rechazo por coma flotante.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El alimento se mueve y los totales se actualizan.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A72"/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CP-09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F0F4F8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Acceso denegado correctamente (404).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7CD992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582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05840" y="8915400"/>
            <a:ext cx="153619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7CD9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Resultado global Ciclo 1 + Ciclo 2: 9 / 9 casos APROBADOS (100 %)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76275"/>
            <a:ext cx="168249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Pruebas Automatizadas y BD de Pruebas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047875"/>
            <a:ext cx="16459200" cy="723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backend-core (Jest):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suite 100 % verde — 9 suites / 32 tests. Pacientes, pautas, planificaciones y alimentos (service + controller).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backend-math (pytest):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 tests del cálculo de TMB (Harris-Benedict y Mifflin-St Jeor).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Base de datos de pruebas: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Prisma y Redis mockeados en las pruebas unitarias; entorno aislado, sin tocar datos productivos.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Datos de prueba E2E: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JWT HS256 firmado con SUPABASE_JWT_SECRET y cuenta seed de nutricionista para los flujos funcionales.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 de versiones: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Git con ramas por feature (develop), commits 'test:' / 'chore:' y gestión de tareas en ClickUp.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1007364"/>
            <a:ext cx="16824960" cy="8272272"/>
            <a:chOff x="0" y="0"/>
            <a:chExt cx="22433280" cy="11029696"/>
          </a:xfrm>
        </p:grpSpPr>
        <p:sp>
          <p:nvSpPr>
            <p:cNvPr name="Freeform 3" id="3" descr="testing.png"/>
            <p:cNvSpPr/>
            <p:nvPr/>
          </p:nvSpPr>
          <p:spPr>
            <a:xfrm flipH="false" flipV="false" rot="0">
              <a:off x="0" y="0"/>
              <a:ext cx="22433280" cy="11029696"/>
            </a:xfrm>
            <a:custGeom>
              <a:avLst/>
              <a:gdLst/>
              <a:ahLst/>
              <a:cxnLst/>
              <a:rect r="r" b="b" t="t" l="l"/>
              <a:pathLst>
                <a:path h="1102969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1029696"/>
                  </a:lnTo>
                  <a:lnTo>
                    <a:pt x="0" y="11029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373600" y="9271635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76275"/>
            <a:ext cx="168249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Mejoras Realizadas tras Validación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047875"/>
            <a:ext cx="16459200" cy="723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Cálculo de macros (CP-06/07):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auto-balance con CHO como macro de cierre y tolerancia decimal [99,9–100,1] para evitar falsos rechazos por coma flotante.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Seguridad multi-tenant (CP-09):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aislamiento de datos por nutricionista; acceso a paciente ajeno responde HTTP 404.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Validación de datos (CP-04):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verificación de dígito verificador del RUT en backend, con mensaje claro al usuario.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Calidad del dato nutricional: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tabla de intercambio unificada y confirmada contra el listado oficial de la U. de Chile (13 grupos).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Usabilidad y completitud: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persistencia de pautas, fechas es-CL sin desfase UTC, pesos de referencia reales (IMC) y exportación a PDF.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009" y="1913316"/>
            <a:ext cx="9893376" cy="6460367"/>
          </a:xfrm>
          <a:custGeom>
            <a:avLst/>
            <a:gdLst/>
            <a:ahLst/>
            <a:cxnLst/>
            <a:rect r="r" b="b" t="t" l="l"/>
            <a:pathLst>
              <a:path h="6460367" w="9893376">
                <a:moveTo>
                  <a:pt x="0" y="0"/>
                </a:moveTo>
                <a:lnTo>
                  <a:pt x="9893377" y="0"/>
                </a:lnTo>
                <a:lnTo>
                  <a:pt x="9893377" y="6460368"/>
                </a:lnTo>
                <a:lnTo>
                  <a:pt x="0" y="6460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23167" y="749726"/>
            <a:ext cx="10241667" cy="55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661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Pruebas Unitarias frontend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14067" y="1903791"/>
            <a:ext cx="6517887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Para asegurar un diseño visual funcional se deben realizar pruebas unitarias a cadfa componente del frontend ya que es importartante evitar bugs de diseño y de funcionalidades para la experiencia de usuario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4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2900" y="1547021"/>
            <a:ext cx="6939789" cy="8255512"/>
          </a:xfrm>
          <a:custGeom>
            <a:avLst/>
            <a:gdLst/>
            <a:ahLst/>
            <a:cxnLst/>
            <a:rect r="r" b="b" t="t" l="l"/>
            <a:pathLst>
              <a:path h="8255512" w="6939789">
                <a:moveTo>
                  <a:pt x="0" y="0"/>
                </a:moveTo>
                <a:lnTo>
                  <a:pt x="6939789" y="0"/>
                </a:lnTo>
                <a:lnTo>
                  <a:pt x="6939789" y="8255511"/>
                </a:lnTo>
                <a:lnTo>
                  <a:pt x="0" y="825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7500" y="500854"/>
            <a:ext cx="5532999" cy="104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2"/>
              </a:lnSpc>
              <a:spcBef>
                <a:spcPct val="0"/>
              </a:spcBef>
            </a:pPr>
            <a:r>
              <a:rPr lang="en-US" sz="6802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Tabla de testing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76275"/>
            <a:ext cx="168249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139315"/>
            <a:ext cx="16459200" cy="75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Objetivo cumplido: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NutriFlow centraliza los cálculos metabólicos y automatiza la planificación visual de pautas, reduciendo drásticamente el trabajo manual de la nutricionista.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Arquitectura validada: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esquema de microservicios (NestJS + FastAPI + Supabase + Redis) resultó robusto y escalable; aislar el motor matemático facilitó probar los cálculos clínicos.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Calidad comprobada: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plan de pruebas validó los 7 requisitos núcleo — 9/9 casos funcionales aprobados y 36 tests automatizados verdes (Jest + pytest).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Seguridad asegurada: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aislamiento multi-tenant (HTTP 404 ante datos ajenos) y las validaciones de entrada (RUT, macros 100%) cumplen los estándares de seguridad y calidad.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Producto operativo: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plataforma está funcional y validada por la nutricionista (cliente real), lista para su uso en consulta.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676275"/>
            <a:ext cx="1682496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Lecciones Aprendidas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139315"/>
            <a:ext cx="16459200" cy="75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Probar temprano paga: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 pruebas revelaron problemas no obvios (falsos rechazos por coma flotante en macros, desfase de fechas por UTC) — detalles pequeños con gran impacto en la usabilidad.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Una sola fuente de verdad: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unificar la tabla de intercambio oficial (U. de Chile) eliminó inconsistencias entre el armador y el generador de menús.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La seguridad se prueba, no se asume: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aislamiento de datos entre nutricionistas debió validarse con un caso explícito (CP-09).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Separar servicios tiene un costo: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aislar el motor de cálculo simplificó las pruebas unitarias, pero exigió cuidar los contratos HTTP y la caché Redis en la integración.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Trabajar con un cliente real enfoca: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contacto con la nutricionista y la gestión en ClickUp mantuvieron el desarrollo centrado en necesidades reales.</a:t>
            </a: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6FB1E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Control de versiones y CI:  </a:t>
            </a:r>
            <a:r>
              <a:rPr lang="en-US" sz="23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 ramas por feature y el respaldo diario automatizado dieron trazabilidad y resguardo al proyecto.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55312" y="9253347"/>
            <a:ext cx="36576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DAHNjXY14_k</dc:identifier>
  <dcterms:modified xsi:type="dcterms:W3CDTF">2011-08-01T06:04:30Z</dcterms:modified>
  <cp:revision>1</cp:revision>
  <dc:title>Presentación - NutriFlow Plataforma Saas EVALUACION 1 A 3.pptx</dc:title>
</cp:coreProperties>
</file>